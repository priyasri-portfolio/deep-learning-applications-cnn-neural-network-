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29"/>
    <p:restoredTop sz="94636"/>
  </p:normalViewPr>
  <p:slideViewPr>
    <p:cSldViewPr snapToGrid="0">
      <p:cViewPr varScale="1">
        <p:scale>
          <a:sx n="61" d="100"/>
          <a:sy n="61" d="100"/>
        </p:scale>
        <p:origin x="216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A7947-E287-4738-8C82-07CE4F01EF03}" type="datetime2">
              <a:rPr lang="en-US" smtClean="0"/>
              <a:t>Wednesday, April 22,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693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8C025-CD7A-4966-867E-81CF82B15267}" type="datetime2">
              <a:rPr lang="en-US" smtClean="0"/>
              <a:t>Wednesday, April 22,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790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9929-0719-4517-94D6-FDF7F99E70F6}" type="datetime2">
              <a:rPr lang="en-US" smtClean="0"/>
              <a:t>Wednesday, April 22,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874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95673-5512-4AAA-9AEB-E00C61EC65D5}" type="datetime2">
              <a:rPr lang="en-US" smtClean="0"/>
              <a:t>Wednesday, April 22,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796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138FA-2E87-4873-8BBA-13E447C9A99A}" type="datetime2">
              <a:rPr lang="en-US" smtClean="0"/>
              <a:t>Wednesday, April 22,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570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B40A-97BD-4BFB-B639-0BFF95FDE8B7}" type="datetime2">
              <a:rPr lang="en-US" smtClean="0"/>
              <a:t>Wednesday, April 22,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542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9E0E3-ECF6-4CFE-8698-AEFEBCECC3C0}" type="datetime2">
              <a:rPr lang="en-US" smtClean="0"/>
              <a:t>Wednesday, April 22,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777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462FC-960E-4740-921F-B36862979F21}" type="datetime2">
              <a:rPr lang="en-US" smtClean="0"/>
              <a:t>Wednesday, April 22,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0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C9E2-CB44-4C05-9BB5-496C18A241E0}" type="datetime2">
              <a:rPr lang="en-US" smtClean="0"/>
              <a:t>Wednesday, April 22,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472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CB39B-5F4C-4A7E-9BE3-AAFD45576D16}" type="datetime2">
              <a:rPr lang="en-US" smtClean="0"/>
              <a:t>Wednesday, April 22,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06188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CB39B-5F4C-4A7E-9BE3-AAFD45576D16}" type="datetime2">
              <a:rPr lang="en-US" smtClean="0"/>
              <a:t>Wednesday, April 22,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1090435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CB39B-5F4C-4A7E-9BE3-AAFD45576D16}" type="datetime2">
              <a:rPr lang="en-US" smtClean="0"/>
              <a:t>Wednesday, April 22, 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24699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CB39B-5F4C-4A7E-9BE3-AAFD45576D16}" type="datetime2">
              <a:rPr lang="en-US" smtClean="0"/>
              <a:t>Wednesday, April 22, 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1392704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CB39B-5F4C-4A7E-9BE3-AAFD45576D16}" type="datetime2">
              <a:rPr lang="en-US" smtClean="0"/>
              <a:t>Wednesday, April 22, 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34145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EBD84-71F4-4271-8C46-0D47C0A9B12E}" type="datetime2">
              <a:rPr lang="en-US" smtClean="0"/>
              <a:t>Wednesday, April 22,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5834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0CE1-F450-4107-B2CB-17B18F8A3F4A}" type="datetime2">
              <a:rPr lang="en-US" smtClean="0"/>
              <a:t>Wednesday, April 22,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72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6CB39B-5F4C-4A7E-9BE3-AAFD45576D16}" type="datetime2">
              <a:rPr lang="en-US" smtClean="0"/>
              <a:t>Wednesday, April 22,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Sample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121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1FF9CEF5-A50D-4B8B-9852-D76F70378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olorful wavy concept">
            <a:extLst>
              <a:ext uri="{FF2B5EF4-FFF2-40B4-BE49-F238E27FC236}">
                <a16:creationId xmlns:a16="http://schemas.microsoft.com/office/drawing/2014/main" id="{7AAAB684-5270-21F4-E89A-EEFD02B1A08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40000"/>
          </a:blip>
          <a:srcRect t="2837" b="12893"/>
          <a:stretch>
            <a:fillRect/>
          </a:stretch>
        </p:blipFill>
        <p:spPr>
          <a:xfrm>
            <a:off x="0" y="104734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29C1FEE-253B-37E7-B381-96C3D68C29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58495" y="1715614"/>
            <a:ext cx="9259779" cy="1467076"/>
          </a:xfrm>
        </p:spPr>
        <p:txBody>
          <a:bodyPr>
            <a:noAutofit/>
          </a:bodyPr>
          <a:lstStyle/>
          <a:p>
            <a:r>
              <a:rPr lang="en-US" dirty="0"/>
              <a:t>  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Project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268717-DB96-C32E-7454-B80D53BE5D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48825" y="2863091"/>
            <a:ext cx="8915399" cy="1126283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Title: Image Classification &amp;</a:t>
            </a:r>
            <a:br>
              <a:rPr lang="en-US" sz="4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                  Sentiment Analysis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65753F1-EEE2-45ED-88A1-ECB4A495D0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12" name="Freeform 27">
              <a:extLst>
                <a:ext uri="{FF2B5EF4-FFF2-40B4-BE49-F238E27FC236}">
                  <a16:creationId xmlns:a16="http://schemas.microsoft.com/office/drawing/2014/main" id="{3E3E7343-7B0A-4265-B9DA-56CE355513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28">
              <a:extLst>
                <a:ext uri="{FF2B5EF4-FFF2-40B4-BE49-F238E27FC236}">
                  <a16:creationId xmlns:a16="http://schemas.microsoft.com/office/drawing/2014/main" id="{608D2FF5-E7CA-448D-8B61-42FAA7A0C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29">
              <a:extLst>
                <a:ext uri="{FF2B5EF4-FFF2-40B4-BE49-F238E27FC236}">
                  <a16:creationId xmlns:a16="http://schemas.microsoft.com/office/drawing/2014/main" id="{DC186DC7-6F76-40B7-8268-20660160E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30">
              <a:extLst>
                <a:ext uri="{FF2B5EF4-FFF2-40B4-BE49-F238E27FC236}">
                  <a16:creationId xmlns:a16="http://schemas.microsoft.com/office/drawing/2014/main" id="{4C8DDEC4-2C9A-4271-BBB3-577233F2E1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31">
              <a:extLst>
                <a:ext uri="{FF2B5EF4-FFF2-40B4-BE49-F238E27FC236}">
                  <a16:creationId xmlns:a16="http://schemas.microsoft.com/office/drawing/2014/main" id="{D8DB0C2B-A79C-421F-88AB-DC7B12527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32">
              <a:extLst>
                <a:ext uri="{FF2B5EF4-FFF2-40B4-BE49-F238E27FC236}">
                  <a16:creationId xmlns:a16="http://schemas.microsoft.com/office/drawing/2014/main" id="{B3BC96E3-7FEF-4BFD-8E2C-028CB37724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33">
              <a:extLst>
                <a:ext uri="{FF2B5EF4-FFF2-40B4-BE49-F238E27FC236}">
                  <a16:creationId xmlns:a16="http://schemas.microsoft.com/office/drawing/2014/main" id="{E7ED35DB-BAAE-4771-A0A0-65647ACC5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34">
              <a:extLst>
                <a:ext uri="{FF2B5EF4-FFF2-40B4-BE49-F238E27FC236}">
                  <a16:creationId xmlns:a16="http://schemas.microsoft.com/office/drawing/2014/main" id="{4407B080-4ED5-43EB-8CCE-B43B336EF6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35">
              <a:extLst>
                <a:ext uri="{FF2B5EF4-FFF2-40B4-BE49-F238E27FC236}">
                  <a16:creationId xmlns:a16="http://schemas.microsoft.com/office/drawing/2014/main" id="{8C10C675-F599-45D3-8177-D7F7DEC16C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6">
              <a:extLst>
                <a:ext uri="{FF2B5EF4-FFF2-40B4-BE49-F238E27FC236}">
                  <a16:creationId xmlns:a16="http://schemas.microsoft.com/office/drawing/2014/main" id="{E2566A74-B9B1-469F-A373-3B3C60175C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7">
              <a:extLst>
                <a:ext uri="{FF2B5EF4-FFF2-40B4-BE49-F238E27FC236}">
                  <a16:creationId xmlns:a16="http://schemas.microsoft.com/office/drawing/2014/main" id="{D108E5CB-8D77-4568-B6FF-2C30321345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38">
              <a:extLst>
                <a:ext uri="{FF2B5EF4-FFF2-40B4-BE49-F238E27FC236}">
                  <a16:creationId xmlns:a16="http://schemas.microsoft.com/office/drawing/2014/main" id="{7D8349D8-2AE2-4C78-84ED-22125F147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30684D86-C9D1-40C3-A9B6-EC935C7312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Freeform 33">
            <a:extLst>
              <a:ext uri="{FF2B5EF4-FFF2-40B4-BE49-F238E27FC236}">
                <a16:creationId xmlns:a16="http://schemas.microsoft.com/office/drawing/2014/main" id="{1EDF7896-F56A-49DA-90F3-F5CE8B9833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8B7E5F-CC82-B848-110B-8843D77C029C}"/>
              </a:ext>
            </a:extLst>
          </p:cNvPr>
          <p:cNvSpPr txBox="1"/>
          <p:nvPr/>
        </p:nvSpPr>
        <p:spPr>
          <a:xfrm>
            <a:off x="2575249" y="5102399"/>
            <a:ext cx="832290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Priyasri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Sankaran</a:t>
            </a:r>
          </a:p>
          <a:p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Fall 2025</a:t>
            </a:r>
          </a:p>
          <a:p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University of Texas at Dallas</a:t>
            </a:r>
          </a:p>
        </p:txBody>
      </p:sp>
    </p:spTree>
    <p:extLst>
      <p:ext uri="{BB962C8B-B14F-4D97-AF65-F5344CB8AC3E}">
        <p14:creationId xmlns:p14="http://schemas.microsoft.com/office/powerpoint/2010/main" val="2622754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70B75-18A1-E5F2-6DE3-9901034FC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BB552-3956-5075-5EBE-D5C67EFCEF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deep learning classification problems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1: CNN for image recognition (MNIST)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2: Neural Network optimization for text sentiment (IMDb)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Focus: Architecture design, regularization, and performance evaluation</a:t>
            </a:r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4486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C1E98-B0E7-D4E6-4186-912C40B70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1-CNN for image recognition (MNIST)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8FE8A-80C3-81BB-8ED2-77E156760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 Layer 1: 32 filters (3×3) +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MaxPooling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(2×2) → 320 params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 Layer 2: 64 filters (3×3) +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MaxPooling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(2×2) → 18,496 params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 Layer 3: 64 filters (3×3) → 36,928 params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Flatten → Dense (64 units) → 650 params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(10 classes)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Parameters: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93,322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RMSprop optimizer, batch size 64, 5 epochs</a:t>
            </a:r>
          </a:p>
        </p:txBody>
      </p:sp>
    </p:spTree>
    <p:extLst>
      <p:ext uri="{BB962C8B-B14F-4D97-AF65-F5344CB8AC3E}">
        <p14:creationId xmlns:p14="http://schemas.microsoft.com/office/powerpoint/2010/main" val="981678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80A90-AFF7-E0C5-8E4A-D6E239DC9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Findings and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EC731-F102-5878-5FFE-B1C4CEFAC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Findings: </a:t>
            </a:r>
          </a:p>
          <a:p>
            <a:pPr>
              <a:buFont typeface="Wingdings" pitchFamily="2" charset="2"/>
              <a:buChar char="Ø"/>
            </a:pPr>
            <a:r>
              <a:rPr lang="en-US" b="1" dirty="0"/>
              <a:t>Test Accuracy:</a:t>
            </a:r>
            <a:r>
              <a:rPr lang="en-US" dirty="0"/>
              <a:t> 97.64%</a:t>
            </a:r>
          </a:p>
          <a:p>
            <a:pPr>
              <a:buFont typeface="Wingdings" pitchFamily="2" charset="2"/>
              <a:buChar char="Ø"/>
            </a:pPr>
            <a:r>
              <a:rPr lang="en-US" b="1" dirty="0"/>
              <a:t>Validation Performance:</a:t>
            </a:r>
          </a:p>
          <a:p>
            <a:pPr marL="0" indent="0">
              <a:buNone/>
            </a:pPr>
            <a:r>
              <a:rPr lang="en-US" dirty="0"/>
              <a:t>		Accuracy: 97.45% - 97.83% (epochs 2-5)</a:t>
            </a:r>
          </a:p>
          <a:p>
            <a:pPr marL="0" indent="0">
              <a:buNone/>
            </a:pPr>
            <a:r>
              <a:rPr lang="en-US" dirty="0"/>
              <a:t>		Loss: 0.08 - 0.15</a:t>
            </a:r>
          </a:p>
          <a:p>
            <a:pPr marL="0" indent="0">
              <a:buNone/>
            </a:pPr>
            <a:r>
              <a:rPr lang="en-US" dirty="0"/>
              <a:t>		Minimal overfitting observed</a:t>
            </a:r>
          </a:p>
          <a:p>
            <a:r>
              <a:rPr lang="en-US" b="1" dirty="0"/>
              <a:t>Analysis: </a:t>
            </a:r>
            <a:r>
              <a:rPr lang="en-US" dirty="0"/>
              <a:t> CNN architecture effectively captures spatial hierarchies in image data</a:t>
            </a:r>
          </a:p>
        </p:txBody>
      </p:sp>
    </p:spTree>
    <p:extLst>
      <p:ext uri="{BB962C8B-B14F-4D97-AF65-F5344CB8AC3E}">
        <p14:creationId xmlns:p14="http://schemas.microsoft.com/office/powerpoint/2010/main" val="2893059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3D3DA-FB27-1939-E113-B1A67ED40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2: Neural network optimization for text sentiment (IMDb)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99AD1-F131-2FDD-1580-2058179C1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Bullet points for slide:</a:t>
            </a:r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Optimize neural network architecture for sentiment classification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Dataset: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IMDb movie reviews (binary classification)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Design:</a:t>
            </a:r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Hidden layer sizes: 16, 32, 64 units (2 hidden layers)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Dropout rates: 0% and 30%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 total configurations tested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Training Setup:</a:t>
            </a:r>
            <a:endParaRPr lang="en-US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Optimizer: RMSprop (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=0.01)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Batch size: 512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511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C8A75-748B-106A-78DC-63CFCBAA4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Table</a:t>
            </a:r>
          </a:p>
        </p:txBody>
      </p:sp>
      <p:pic>
        <p:nvPicPr>
          <p:cNvPr id="5" name="Content Placeholder 4" descr="A table with numbers and text&#10;&#10;Description automatically generated">
            <a:extLst>
              <a:ext uri="{FF2B5EF4-FFF2-40B4-BE49-F238E27FC236}">
                <a16:creationId xmlns:a16="http://schemas.microsoft.com/office/drawing/2014/main" id="{2E555C49-3EF5-6F39-874B-DEBA051A1E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5080" y="1905000"/>
            <a:ext cx="8915400" cy="1981200"/>
          </a:xfrm>
        </p:spPr>
      </p:pic>
    </p:spTree>
    <p:extLst>
      <p:ext uri="{BB962C8B-B14F-4D97-AF65-F5344CB8AC3E}">
        <p14:creationId xmlns:p14="http://schemas.microsoft.com/office/powerpoint/2010/main" val="1519003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B027D-D93E-196A-BAE1-3CC03DCE8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 and Frameworks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438F5-158A-6B34-151C-625FE9711F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 &amp; Frameworks: 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 &amp;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Wingdings" pitchFamily="2" charset="2"/>
              <a:buChar char="Ø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Lightning </a:t>
            </a:r>
          </a:p>
          <a:p>
            <a:pPr>
              <a:buFont typeface="Wingdings" pitchFamily="2" charset="2"/>
              <a:buChar char="Ø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TorchMetrics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ISLP utilities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 for data manipulation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5266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073B8-884E-F14A-4D83-B21899F40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Findings and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B7369-49EA-3704-303E-C26B167067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Findings: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Dropout improves generalization: All models with 30% dropout outperformed their non-dropout counterparts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 configuration: 32 units + 30% dropout (86.94% accuracy)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loss reduction: 32 units without dropout (1.76 → 0.53)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capacity alone doesn't guarantee better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Regularization (dropout) is crucial for larger networks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 hidden units offers best balance of capacity and generalization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59784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{F19C3549-432C-B748-8D70-936F3756844C}tf10001069</Template>
  <TotalTime>85</TotalTime>
  <Words>382</Words>
  <Application>Microsoft Macintosh PowerPoint</Application>
  <PresentationFormat>Widescreen</PresentationFormat>
  <Paragraphs>53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Century Gothic</vt:lpstr>
      <vt:lpstr>Times New Roman</vt:lpstr>
      <vt:lpstr>Wingdings</vt:lpstr>
      <vt:lpstr>Wingdings 3</vt:lpstr>
      <vt:lpstr>Wisp</vt:lpstr>
      <vt:lpstr>          Deep Learning Project </vt:lpstr>
      <vt:lpstr>Project Overview</vt:lpstr>
      <vt:lpstr>Part 1-CNN for image recognition (MNIST) </vt:lpstr>
      <vt:lpstr>Findings and Analysis</vt:lpstr>
      <vt:lpstr>Part 2: Neural network optimization for text sentiment (IMDb)</vt:lpstr>
      <vt:lpstr>Result Table</vt:lpstr>
      <vt:lpstr>Libraries and Frameworks</vt:lpstr>
      <vt:lpstr>Findings and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    Deep Learning Project </dc:title>
  <dc:creator>Sankaran, Priyasri</dc:creator>
  <cp:lastModifiedBy>Sankaran, Priyasri</cp:lastModifiedBy>
  <cp:revision>2</cp:revision>
  <dcterms:created xsi:type="dcterms:W3CDTF">2026-01-02T04:44:00Z</dcterms:created>
  <dcterms:modified xsi:type="dcterms:W3CDTF">2026-04-22T15:28:42Z</dcterms:modified>
</cp:coreProperties>
</file>